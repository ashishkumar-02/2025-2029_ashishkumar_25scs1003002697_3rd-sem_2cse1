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1" i="0" strike="noStrike" sz="1300" u="none">
                <a:solidFill>
                  <a:srgbClr val="000000"/>
                </a:solidFill>
                <a:latin typeface="Calibri"/>
              </a:defRPr>
            </a:pPr>
            <a:r>
              <a:rPr b="1" i="0" strike="noStrike" sz="1300" u="none">
                <a:solidFill>
                  <a:srgbClr val="000000"/>
                </a:solidFill>
                <a:latin typeface="Calibri"/>
              </a:rPr>
              <a:t>Research Coverage by Primary Area</a:t>
            </a:r>
          </a:p>
        </c:rich>
      </c:tx>
      <c:layout>
        <c:manualLayout>
          <c:xMode val="edge"/>
          <c:yMode val="edge"/>
          <c:x val="0.284256"/>
          <c:y val="0"/>
          <c:w val="0.431488"/>
          <c:h val="0.0754734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428054"/>
          <c:y val="0.0754734"/>
          <c:w val="0.952195"/>
          <c:h val="0.8590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NGOs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Education</c:v>
                </c:pt>
                <c:pt idx="1">
                  <c:v>Healthcare</c:v>
                </c:pt>
                <c:pt idx="2">
                  <c:v>Child/Community</c:v>
                </c:pt>
                <c:pt idx="3">
                  <c:v>Animal</c:v>
                </c:pt>
                <c:pt idx="4">
                  <c:v>Environment</c:v>
                </c:pt>
                <c:pt idx="5">
                  <c:v>Women</c:v>
                </c:pt>
                <c:pt idx="6">
                  <c:v>Elder Care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2.000000</c:v>
                </c:pt>
                <c:pt idx="1">
                  <c:v>2.000000</c:v>
                </c:pt>
                <c:pt idx="2">
                  <c:v>2.000000</c:v>
                </c:pt>
                <c:pt idx="3">
                  <c:v>1.000000</c:v>
                </c:pt>
                <c:pt idx="4">
                  <c:v>1.000000</c:v>
                </c:pt>
                <c:pt idx="5">
                  <c:v>1.000000</c:v>
                </c:pt>
                <c:pt idx="6">
                  <c:v>1.000000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3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1" i="0" strike="noStrike" sz="1300" u="none">
                <a:solidFill>
                  <a:srgbClr val="000000"/>
                </a:solidFill>
                <a:latin typeface="Calibri"/>
              </a:defRPr>
            </a:pPr>
            <a:r>
              <a:rPr b="1" i="0" strike="noStrike" sz="1300" u="none">
                <a:solidFill>
                  <a:srgbClr val="000000"/>
                </a:solidFill>
                <a:latin typeface="Calibri"/>
              </a:rPr>
              <a:t>15+ Opportunities by Type</a:t>
            </a:r>
          </a:p>
        </c:rich>
      </c:tx>
      <c:layout>
        <c:manualLayout>
          <c:xMode val="edge"/>
          <c:yMode val="edge"/>
          <c:x val="0.153922"/>
          <c:y val="0"/>
          <c:w val="0.391399"/>
          <c:h val="0.0894732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05"/>
          <c:y val="0.0894732"/>
          <c:w val="0.699244"/>
          <c:h val="0.898027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Opportunities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</c:dPt>
          <c:dPt>
            <c:idx val="1"/>
            <c:explosion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</c:dPt>
          <c:dPt>
            <c:idx val="2"/>
            <c:explosion val="0"/>
            <c:spPr>
              <a:solidFill>
                <a:schemeClr val="accent3"/>
              </a:solidFill>
              <a:ln w="12700" cap="flat">
                <a:noFill/>
                <a:miter lim="400000"/>
              </a:ln>
              <a:effectLst/>
            </c:spPr>
          </c:dPt>
          <c:dPt>
            <c:idx val="3"/>
            <c:explosion val="0"/>
            <c:spPr>
              <a:solidFill>
                <a:schemeClr val="accent4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0" sourceLinked="0"/>
              <c:txPr>
                <a:bodyPr/>
                <a:lstStyle/>
                <a:p>
                  <a:pPr>
                    <a:defRPr b="0" i="0" strike="noStrike" sz="18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txPr>
                <a:bodyPr/>
                <a:lstStyle/>
                <a:p>
                  <a:pPr>
                    <a:defRPr b="0" i="0" strike="noStrike" sz="18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txPr>
                <a:bodyPr/>
                <a:lstStyle/>
                <a:p>
                  <a:pPr>
                    <a:defRPr b="0" i="0" strike="noStrike" sz="18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" sourceLinked="0"/>
              <c:txPr>
                <a:bodyPr/>
                <a:lstStyle/>
                <a:p>
                  <a:pPr>
                    <a:defRPr b="0" i="0" strike="noStrike" sz="18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noFill/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</c:dLbls>
          <c:cat>
            <c:strRef>
              <c:f>Sheet1!$B$1:$E$1</c:f>
              <c:strCache>
                <c:ptCount val="4"/>
                <c:pt idx="0">
                  <c:v>Volunteering</c:v>
                </c:pt>
                <c:pt idx="1">
                  <c:v>Internships</c:v>
                </c:pt>
                <c:pt idx="2">
                  <c:v>Fellowships</c:v>
                </c:pt>
                <c:pt idx="3">
                  <c:v>Student initiatives</c:v>
                </c:pt>
              </c:strCache>
            </c:strRef>
          </c:cat>
          <c:val>
            <c:numRef>
              <c:f>Sheet1!$B$2:$E$2</c:f>
              <c:numCache>
                <c:ptCount val="4"/>
                <c:pt idx="0">
                  <c:v>7.000000</c:v>
                </c:pt>
                <c:pt idx="1">
                  <c:v>4.000000</c:v>
                </c:pt>
                <c:pt idx="2">
                  <c:v>2.000000</c:v>
                </c:pt>
                <c:pt idx="3">
                  <c:v>2.000000</c:v>
                </c:pt>
              </c:numCache>
            </c:numRef>
          </c:val>
        </c:ser>
        <c:firstSliceAng val="0"/>
        <c:holeSize val="50"/>
      </c:doughnutChart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34788"/>
          <c:y val="0.383376"/>
          <c:w val="0.265212"/>
          <c:h val="0.178705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000" u="non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320040"/>
            <a:ext cx="960121" cy="102347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46919" y="320040"/>
            <a:ext cx="1965961" cy="59436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4"/>
          <p:cNvSpPr txBox="1"/>
          <p:nvPr/>
        </p:nvSpPr>
        <p:spPr>
          <a:xfrm>
            <a:off x="3183294" y="1417319"/>
            <a:ext cx="579493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32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INTERNSHIP PRESENTATION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3673881" y="2331720"/>
            <a:ext cx="4813758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800">
                <a:solidFill>
                  <a:srgbClr val="315AA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AI Data Analytics Internship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3017519" y="3428999"/>
            <a:ext cx="6217922" cy="204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Student: ASHISH KUMAR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Enrollment No.: 25SCS1003002697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B.Tech CSE | 3rd Semester | Section 2CSE</a:t>
            </a:r>
            <a:r>
              <a:t>1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Session: 2025–29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Organization: InAmigos Foundation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Internship Period: 05 September 2026 – 21 September 2026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548639" y="228599"/>
            <a:ext cx="3381783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Internship Overview</a:t>
            </a:r>
          </a:p>
        </p:txBody>
      </p:sp>
      <p:sp>
        <p:nvSpPr>
          <p:cNvPr id="104" name="TextBox 3"/>
          <p:cNvSpPr txBox="1"/>
          <p:nvPr/>
        </p:nvSpPr>
        <p:spPr>
          <a:xfrm>
            <a:off x="576071" y="749808"/>
            <a:ext cx="41963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AI-assisted research, data organization and social-impact analysis</a:t>
            </a:r>
          </a:p>
        </p:txBody>
      </p:sp>
      <p:sp>
        <p:nvSpPr>
          <p:cNvPr id="105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8" name="Rounded Rectangle 5"/>
          <p:cNvGrpSpPr/>
          <p:nvPr/>
        </p:nvGrpSpPr>
        <p:grpSpPr>
          <a:xfrm>
            <a:off x="640080" y="1417319"/>
            <a:ext cx="3429001" cy="1828801"/>
            <a:chOff x="0" y="0"/>
            <a:chExt cx="3429000" cy="1828800"/>
          </a:xfrm>
        </p:grpSpPr>
        <p:sp>
          <p:nvSpPr>
            <p:cNvPr id="106" name="Rounded Rectangle"/>
            <p:cNvSpPr/>
            <p:nvPr/>
          </p:nvSpPr>
          <p:spPr>
            <a:xfrm>
              <a:off x="0" y="0"/>
              <a:ext cx="3429000" cy="182880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7" name="Internship Focus…"/>
            <p:cNvSpPr txBox="1"/>
            <p:nvPr/>
          </p:nvSpPr>
          <p:spPr>
            <a:xfrm>
              <a:off x="198113" y="478790"/>
              <a:ext cx="3069350" cy="916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Internship Focus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Applied AI and data analytics concepts to NGO, volunteering, fundraising and education-related topics.</a:t>
              </a:r>
            </a:p>
          </p:txBody>
        </p:sp>
      </p:grpSp>
      <p:grpSp>
        <p:nvGrpSpPr>
          <p:cNvPr id="111" name="Rounded Rectangle 6"/>
          <p:cNvGrpSpPr/>
          <p:nvPr/>
        </p:nvGrpSpPr>
        <p:grpSpPr>
          <a:xfrm>
            <a:off x="4389120" y="1417319"/>
            <a:ext cx="3429001" cy="1828801"/>
            <a:chOff x="0" y="0"/>
            <a:chExt cx="3429000" cy="1828800"/>
          </a:xfrm>
        </p:grpSpPr>
        <p:sp>
          <p:nvSpPr>
            <p:cNvPr id="109" name="Rounded Rectangle"/>
            <p:cNvSpPr/>
            <p:nvPr/>
          </p:nvSpPr>
          <p:spPr>
            <a:xfrm>
              <a:off x="0" y="0"/>
              <a:ext cx="3429000" cy="182880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2E7D3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0" name="Learning Approach…"/>
            <p:cNvSpPr txBox="1"/>
            <p:nvPr/>
          </p:nvSpPr>
          <p:spPr>
            <a:xfrm>
              <a:off x="198113" y="552087"/>
              <a:ext cx="3069350" cy="770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2E7D3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Learning Approach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Research → organize data → AI assistance → verify → communicate findings.</a:t>
              </a:r>
            </a:p>
          </p:txBody>
        </p:sp>
      </p:grpSp>
      <p:grpSp>
        <p:nvGrpSpPr>
          <p:cNvPr id="114" name="Rounded Rectangle 7"/>
          <p:cNvGrpSpPr/>
          <p:nvPr/>
        </p:nvGrpSpPr>
        <p:grpSpPr>
          <a:xfrm>
            <a:off x="8138159" y="1417319"/>
            <a:ext cx="3429001" cy="1828801"/>
            <a:chOff x="0" y="0"/>
            <a:chExt cx="3429000" cy="1828800"/>
          </a:xfrm>
        </p:grpSpPr>
        <p:sp>
          <p:nvSpPr>
            <p:cNvPr id="112" name="Rounded Rectangle"/>
            <p:cNvSpPr/>
            <p:nvPr/>
          </p:nvSpPr>
          <p:spPr>
            <a:xfrm>
              <a:off x="0" y="0"/>
              <a:ext cx="3429000" cy="182880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E67E2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3" name="Duration…"/>
            <p:cNvSpPr txBox="1"/>
            <p:nvPr/>
          </p:nvSpPr>
          <p:spPr>
            <a:xfrm>
              <a:off x="198113" y="567690"/>
              <a:ext cx="3069350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E67E2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Duration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05 September 2026 to 21 September 2026</a:t>
              </a:r>
              <a:br/>
              <a:r>
                <a:t>InAmigos Foundation</a:t>
              </a:r>
            </a:p>
          </p:txBody>
        </p:sp>
      </p:grpSp>
      <p:sp>
        <p:nvSpPr>
          <p:cNvPr id="115" name="TextBox 8"/>
          <p:cNvSpPr txBox="1"/>
          <p:nvPr/>
        </p:nvSpPr>
        <p:spPr>
          <a:xfrm>
            <a:off x="868680" y="3703320"/>
            <a:ext cx="10424161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Four structured tasks were completed.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work emphasized research and analysis rather than production software development.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AI supported summarization, ideation and recommendation generation.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Human review and source verification remained important.</a:t>
            </a:r>
          </a:p>
        </p:txBody>
      </p:sp>
      <p:sp>
        <p:nvSpPr>
          <p:cNvPr id="116" name="TextBox 9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2"/>
          <p:cNvSpPr txBox="1"/>
          <p:nvPr/>
        </p:nvSpPr>
        <p:spPr>
          <a:xfrm>
            <a:off x="548639" y="228599"/>
            <a:ext cx="3362026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Organization Profile</a:t>
            </a:r>
          </a:p>
        </p:txBody>
      </p:sp>
      <p:sp>
        <p:nvSpPr>
          <p:cNvPr id="120" name="TextBox 3"/>
          <p:cNvSpPr txBox="1"/>
          <p:nvPr/>
        </p:nvSpPr>
        <p:spPr>
          <a:xfrm>
            <a:off x="576071" y="749808"/>
            <a:ext cx="142433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InAmigos Foundation</a:t>
            </a:r>
          </a:p>
        </p:txBody>
      </p:sp>
      <p:sp>
        <p:nvSpPr>
          <p:cNvPr id="121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1417319"/>
            <a:ext cx="2743200" cy="82934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Box 6"/>
          <p:cNvSpPr txBox="1"/>
          <p:nvPr/>
        </p:nvSpPr>
        <p:spPr>
          <a:xfrm>
            <a:off x="3794758" y="1417320"/>
            <a:ext cx="7315202" cy="184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Nonprofit / Section 8 organization based in Bilaspur, Chhattisgarh, India.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Founded on 23 September 2020.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Focus areas include education, community support, animal welfare, women empowerment, environment and skill development.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internship connected social-impact activities with AI-assisted research and data-oriented thinking.</a:t>
            </a:r>
          </a:p>
        </p:txBody>
      </p:sp>
      <p:grpSp>
        <p:nvGrpSpPr>
          <p:cNvPr id="126" name="Rounded Rectangle 7"/>
          <p:cNvGrpSpPr/>
          <p:nvPr/>
        </p:nvGrpSpPr>
        <p:grpSpPr>
          <a:xfrm>
            <a:off x="777240" y="4069079"/>
            <a:ext cx="10698481" cy="1325881"/>
            <a:chOff x="0" y="0"/>
            <a:chExt cx="10698480" cy="1325880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10698481" cy="1325881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4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5" name="Selected initiatives…"/>
            <p:cNvSpPr txBox="1"/>
            <p:nvPr/>
          </p:nvSpPr>
          <p:spPr>
            <a:xfrm>
              <a:off x="173562" y="386080"/>
              <a:ext cx="10387932" cy="599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Selected initiatives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4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Project Seva • Project BachpanShala • Project Jeev • Project Udaan • Project Prakriti • Project Vikas</a:t>
              </a:r>
            </a:p>
          </p:txBody>
        </p:sp>
      </p:grpSp>
      <p:sp>
        <p:nvSpPr>
          <p:cNvPr id="127" name="TextBox 8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2"/>
          <p:cNvSpPr txBox="1"/>
          <p:nvPr/>
        </p:nvSpPr>
        <p:spPr>
          <a:xfrm>
            <a:off x="548639" y="228599"/>
            <a:ext cx="1838566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131" name="Rectangle 3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4" name="Rounded Rectangle 4"/>
          <p:cNvGrpSpPr/>
          <p:nvPr/>
        </p:nvGrpSpPr>
        <p:grpSpPr>
          <a:xfrm>
            <a:off x="640080" y="1417319"/>
            <a:ext cx="3429001" cy="1691641"/>
            <a:chOff x="0" y="0"/>
            <a:chExt cx="3429000" cy="1691639"/>
          </a:xfrm>
        </p:grpSpPr>
        <p:sp>
          <p:nvSpPr>
            <p:cNvPr id="132" name="Rounded Rectangle"/>
            <p:cNvSpPr/>
            <p:nvPr/>
          </p:nvSpPr>
          <p:spPr>
            <a:xfrm>
              <a:off x="0" y="0"/>
              <a:ext cx="3429000" cy="16916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3" name="Research…"/>
            <p:cNvSpPr txBox="1"/>
            <p:nvPr/>
          </p:nvSpPr>
          <p:spPr>
            <a:xfrm>
              <a:off x="191418" y="499110"/>
              <a:ext cx="3082740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Research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Collect and organize NGO and social-impact information.</a:t>
              </a:r>
            </a:p>
          </p:txBody>
        </p:sp>
      </p:grpSp>
      <p:grpSp>
        <p:nvGrpSpPr>
          <p:cNvPr id="137" name="Rounded Rectangle 5"/>
          <p:cNvGrpSpPr/>
          <p:nvPr/>
        </p:nvGrpSpPr>
        <p:grpSpPr>
          <a:xfrm>
            <a:off x="4434840" y="1417319"/>
            <a:ext cx="3429001" cy="1691641"/>
            <a:chOff x="0" y="0"/>
            <a:chExt cx="3429000" cy="1691639"/>
          </a:xfrm>
        </p:grpSpPr>
        <p:sp>
          <p:nvSpPr>
            <p:cNvPr id="135" name="Rounded Rectangle"/>
            <p:cNvSpPr/>
            <p:nvPr/>
          </p:nvSpPr>
          <p:spPr>
            <a:xfrm>
              <a:off x="0" y="0"/>
              <a:ext cx="3429000" cy="16916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2E7D3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6" name="AI Analysis…"/>
            <p:cNvSpPr txBox="1"/>
            <p:nvPr/>
          </p:nvSpPr>
          <p:spPr>
            <a:xfrm>
              <a:off x="191418" y="499110"/>
              <a:ext cx="3082740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2E7D3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AI Analysis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AI tools to summarize information and generate insights.</a:t>
              </a:r>
            </a:p>
          </p:txBody>
        </p:sp>
      </p:grpSp>
      <p:grpSp>
        <p:nvGrpSpPr>
          <p:cNvPr id="140" name="Rounded Rectangle 6"/>
          <p:cNvGrpSpPr/>
          <p:nvPr/>
        </p:nvGrpSpPr>
        <p:grpSpPr>
          <a:xfrm>
            <a:off x="8229600" y="1417319"/>
            <a:ext cx="3429000" cy="1691641"/>
            <a:chOff x="0" y="0"/>
            <a:chExt cx="3429000" cy="1691639"/>
          </a:xfrm>
        </p:grpSpPr>
        <p:sp>
          <p:nvSpPr>
            <p:cNvPr id="138" name="Rounded Rectangle"/>
            <p:cNvSpPr/>
            <p:nvPr/>
          </p:nvSpPr>
          <p:spPr>
            <a:xfrm>
              <a:off x="0" y="0"/>
              <a:ext cx="3429000" cy="16916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E67E2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9" name="Opportunity Mapping…"/>
            <p:cNvSpPr txBox="1"/>
            <p:nvPr/>
          </p:nvSpPr>
          <p:spPr>
            <a:xfrm>
              <a:off x="191418" y="499110"/>
              <a:ext cx="3082740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E67E2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Opportunity Mapping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Compile student volunteer, internship and fellowship opportunities.</a:t>
              </a:r>
            </a:p>
          </p:txBody>
        </p:sp>
      </p:grpSp>
      <p:grpSp>
        <p:nvGrpSpPr>
          <p:cNvPr id="143" name="Rounded Rectangle 7"/>
          <p:cNvGrpSpPr/>
          <p:nvPr/>
        </p:nvGrpSpPr>
        <p:grpSpPr>
          <a:xfrm>
            <a:off x="640080" y="3566159"/>
            <a:ext cx="3429001" cy="1691641"/>
            <a:chOff x="0" y="0"/>
            <a:chExt cx="3429000" cy="1691639"/>
          </a:xfrm>
        </p:grpSpPr>
        <p:sp>
          <p:nvSpPr>
            <p:cNvPr id="141" name="Rounded Rectangle"/>
            <p:cNvSpPr/>
            <p:nvPr/>
          </p:nvSpPr>
          <p:spPr>
            <a:xfrm>
              <a:off x="0" y="0"/>
              <a:ext cx="3429000" cy="16916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1F2A7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2" name="Strategy…"/>
            <p:cNvSpPr txBox="1"/>
            <p:nvPr/>
          </p:nvSpPr>
          <p:spPr>
            <a:xfrm>
              <a:off x="191418" y="588009"/>
              <a:ext cx="3082740" cy="561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1F2A7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Strategy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Identify practical AI ideas for NGO growth.</a:t>
              </a:r>
            </a:p>
          </p:txBody>
        </p:sp>
      </p:grpSp>
      <p:grpSp>
        <p:nvGrpSpPr>
          <p:cNvPr id="146" name="Rounded Rectangle 8"/>
          <p:cNvGrpSpPr/>
          <p:nvPr/>
        </p:nvGrpSpPr>
        <p:grpSpPr>
          <a:xfrm>
            <a:off x="4434840" y="3566159"/>
            <a:ext cx="3429001" cy="1691641"/>
            <a:chOff x="0" y="0"/>
            <a:chExt cx="3429000" cy="1691639"/>
          </a:xfrm>
        </p:grpSpPr>
        <p:sp>
          <p:nvSpPr>
            <p:cNvPr id="144" name="Rounded Rectangle"/>
            <p:cNvSpPr/>
            <p:nvPr/>
          </p:nvSpPr>
          <p:spPr>
            <a:xfrm>
              <a:off x="0" y="0"/>
              <a:ext cx="3429000" cy="16916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5" name="Professional Skills…"/>
            <p:cNvSpPr txBox="1"/>
            <p:nvPr/>
          </p:nvSpPr>
          <p:spPr>
            <a:xfrm>
              <a:off x="191418" y="499110"/>
              <a:ext cx="3082740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Professional Skills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Improve documentation, analysis and communication.</a:t>
              </a:r>
            </a:p>
          </p:txBody>
        </p:sp>
      </p:grpSp>
      <p:sp>
        <p:nvSpPr>
          <p:cNvPr id="147" name="TextBox 9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2"/>
          <p:cNvSpPr txBox="1"/>
          <p:nvPr/>
        </p:nvSpPr>
        <p:spPr>
          <a:xfrm>
            <a:off x="548639" y="228599"/>
            <a:ext cx="6882109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Task 1 – NGO Research &amp; Data Collection</a:t>
            </a:r>
          </a:p>
        </p:txBody>
      </p:sp>
      <p:sp>
        <p:nvSpPr>
          <p:cNvPr id="151" name="TextBox 3"/>
          <p:cNvSpPr txBox="1"/>
          <p:nvPr/>
        </p:nvSpPr>
        <p:spPr>
          <a:xfrm>
            <a:off x="576071" y="749808"/>
            <a:ext cx="327965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 NGOs researched across multiple social sectors</a:t>
            </a:r>
          </a:p>
        </p:txBody>
      </p:sp>
      <p:sp>
        <p:nvSpPr>
          <p:cNvPr id="152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53" name="Chart 5"/>
          <p:cNvGraphicFramePr/>
          <p:nvPr/>
        </p:nvGraphicFramePr>
        <p:xfrm>
          <a:off x="623993" y="1577460"/>
          <a:ext cx="5657427" cy="402569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4" name="TextBox 6"/>
          <p:cNvSpPr txBox="1"/>
          <p:nvPr/>
        </p:nvSpPr>
        <p:spPr>
          <a:xfrm>
            <a:off x="6766560" y="1508760"/>
            <a:ext cx="4709161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Collected NGO name, website, area of work, headquarters and key initiatives.</a:t>
            </a:r>
          </a:p>
          <a:p>
            <a:pPr>
              <a:spcBef>
                <a:spcPts val="800"/>
              </a:spcBef>
              <a:defRPr sz="15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Examples: Smile Foundation, CRY, Goonj, Akshaya Patra, Teach For India, WWF-India, SEWA and others.</a:t>
            </a:r>
          </a:p>
          <a:p>
            <a:pPr>
              <a:spcBef>
                <a:spcPts val="800"/>
              </a:spcBef>
              <a:defRPr sz="15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Main learning: comparable data fields make NGO research easier to analyze.</a:t>
            </a:r>
          </a:p>
        </p:txBody>
      </p:sp>
      <p:sp>
        <p:nvSpPr>
          <p:cNvPr id="155" name="TextBox 7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2"/>
          <p:cNvSpPr txBox="1"/>
          <p:nvPr/>
        </p:nvSpPr>
        <p:spPr>
          <a:xfrm>
            <a:off x="548639" y="228599"/>
            <a:ext cx="45514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Task 1 – Sample Data Table</a:t>
            </a:r>
          </a:p>
        </p:txBody>
      </p:sp>
      <p:sp>
        <p:nvSpPr>
          <p:cNvPr id="159" name="Rectangle 3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60" name="Table 4"/>
          <p:cNvGraphicFramePr/>
          <p:nvPr/>
        </p:nvGraphicFramePr>
        <p:xfrm>
          <a:off x="594359" y="1371600"/>
          <a:ext cx="10972801" cy="4389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NGO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F2A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Primary Area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F2A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Headquarters / Base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F2A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Key Focus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F2A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Smile Foundation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Education &amp; Healthcare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New Delhi, India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Education and healthcare outreach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CRY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Child Rights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Mumbai, India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Child education and protection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Goonj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Community Development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New Delhi, India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Community-led development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Akshaya Patra Foundation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Education &amp; Nutrition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Bengaluru, India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School meal programs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F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Teach For India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Education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Mumbai, India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3232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Fellowship and educational leadership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61" name="TextBox 5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2"/>
          <p:cNvSpPr txBox="1"/>
          <p:nvPr/>
        </p:nvSpPr>
        <p:spPr>
          <a:xfrm>
            <a:off x="548639" y="228599"/>
            <a:ext cx="5733026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Task 2 – AI-Powered Data Analysis</a:t>
            </a:r>
          </a:p>
        </p:txBody>
      </p:sp>
      <p:sp>
        <p:nvSpPr>
          <p:cNvPr id="165" name="TextBox 3"/>
          <p:cNvSpPr txBox="1"/>
          <p:nvPr/>
        </p:nvSpPr>
        <p:spPr>
          <a:xfrm>
            <a:off x="576071" y="749808"/>
            <a:ext cx="388545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Topic: How AI can support NGOs and social-impact initiatives</a:t>
            </a:r>
          </a:p>
        </p:txBody>
      </p:sp>
      <p:sp>
        <p:nvSpPr>
          <p:cNvPr id="166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9" name="Rounded Rectangle 5"/>
          <p:cNvGrpSpPr/>
          <p:nvPr/>
        </p:nvGrpSpPr>
        <p:grpSpPr>
          <a:xfrm>
            <a:off x="594359" y="1371600"/>
            <a:ext cx="5257801" cy="1234440"/>
            <a:chOff x="0" y="0"/>
            <a:chExt cx="5257800" cy="1234439"/>
          </a:xfrm>
        </p:grpSpPr>
        <p:sp>
          <p:nvSpPr>
            <p:cNvPr id="167" name="Rounded Rectangle"/>
            <p:cNvSpPr/>
            <p:nvPr/>
          </p:nvSpPr>
          <p:spPr>
            <a:xfrm>
              <a:off x="0" y="0"/>
              <a:ext cx="5257800" cy="12344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8" name="Data Analysis…"/>
            <p:cNvSpPr txBox="1"/>
            <p:nvPr/>
          </p:nvSpPr>
          <p:spPr>
            <a:xfrm>
              <a:off x="169098" y="372109"/>
              <a:ext cx="4956180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Data Analysis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Find trends in surveys, project records and structured data.</a:t>
              </a:r>
            </a:p>
          </p:txBody>
        </p:sp>
      </p:grpSp>
      <p:grpSp>
        <p:nvGrpSpPr>
          <p:cNvPr id="172" name="Rounded Rectangle 6"/>
          <p:cNvGrpSpPr/>
          <p:nvPr/>
        </p:nvGrpSpPr>
        <p:grpSpPr>
          <a:xfrm>
            <a:off x="6309359" y="1371600"/>
            <a:ext cx="5257801" cy="1234440"/>
            <a:chOff x="0" y="0"/>
            <a:chExt cx="5257800" cy="1234439"/>
          </a:xfrm>
        </p:grpSpPr>
        <p:sp>
          <p:nvSpPr>
            <p:cNvPr id="170" name="Rounded Rectangle"/>
            <p:cNvSpPr/>
            <p:nvPr/>
          </p:nvSpPr>
          <p:spPr>
            <a:xfrm>
              <a:off x="0" y="0"/>
              <a:ext cx="5257800" cy="12344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2E7D3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1" name="Fundraising…"/>
            <p:cNvSpPr txBox="1"/>
            <p:nvPr/>
          </p:nvSpPr>
          <p:spPr>
            <a:xfrm>
              <a:off x="169098" y="372109"/>
              <a:ext cx="4956180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2E7D3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Fundraising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Support campaign analysis and targeted communication.</a:t>
              </a:r>
            </a:p>
          </p:txBody>
        </p:sp>
      </p:grpSp>
      <p:grpSp>
        <p:nvGrpSpPr>
          <p:cNvPr id="175" name="Rounded Rectangle 7"/>
          <p:cNvGrpSpPr/>
          <p:nvPr/>
        </p:nvGrpSpPr>
        <p:grpSpPr>
          <a:xfrm>
            <a:off x="594359" y="2880360"/>
            <a:ext cx="5257801" cy="1234440"/>
            <a:chOff x="0" y="0"/>
            <a:chExt cx="5257800" cy="1234439"/>
          </a:xfrm>
        </p:grpSpPr>
        <p:sp>
          <p:nvSpPr>
            <p:cNvPr id="173" name="Rounded Rectangle"/>
            <p:cNvSpPr/>
            <p:nvPr/>
          </p:nvSpPr>
          <p:spPr>
            <a:xfrm>
              <a:off x="0" y="0"/>
              <a:ext cx="5257800" cy="12344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E67E2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4" name="Volunteer Management…"/>
            <p:cNvSpPr txBox="1"/>
            <p:nvPr/>
          </p:nvSpPr>
          <p:spPr>
            <a:xfrm>
              <a:off x="169098" y="372109"/>
              <a:ext cx="4956180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E67E2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Volunteer Management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Match skills and interests with suitable opportunities.</a:t>
              </a:r>
            </a:p>
          </p:txBody>
        </p:sp>
      </p:grpSp>
      <p:grpSp>
        <p:nvGrpSpPr>
          <p:cNvPr id="178" name="Rounded Rectangle 8"/>
          <p:cNvGrpSpPr/>
          <p:nvPr/>
        </p:nvGrpSpPr>
        <p:grpSpPr>
          <a:xfrm>
            <a:off x="6309359" y="2880360"/>
            <a:ext cx="5257801" cy="1234440"/>
            <a:chOff x="0" y="0"/>
            <a:chExt cx="5257800" cy="1234439"/>
          </a:xfrm>
        </p:grpSpPr>
        <p:sp>
          <p:nvSpPr>
            <p:cNvPr id="176" name="Rounded Rectangle"/>
            <p:cNvSpPr/>
            <p:nvPr/>
          </p:nvSpPr>
          <p:spPr>
            <a:xfrm>
              <a:off x="0" y="0"/>
              <a:ext cx="5257800" cy="12344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1F2A7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7" name="Education…"/>
            <p:cNvSpPr txBox="1"/>
            <p:nvPr/>
          </p:nvSpPr>
          <p:spPr>
            <a:xfrm>
              <a:off x="169098" y="372109"/>
              <a:ext cx="4956180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1F2A7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Education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Support personalized learning resources and content.</a:t>
              </a:r>
            </a:p>
          </p:txBody>
        </p:sp>
      </p:grpSp>
      <p:grpSp>
        <p:nvGrpSpPr>
          <p:cNvPr id="181" name="Rounded Rectangle 9"/>
          <p:cNvGrpSpPr/>
          <p:nvPr/>
        </p:nvGrpSpPr>
        <p:grpSpPr>
          <a:xfrm>
            <a:off x="594359" y="4389120"/>
            <a:ext cx="5257801" cy="1234441"/>
            <a:chOff x="0" y="0"/>
            <a:chExt cx="5257800" cy="1234439"/>
          </a:xfrm>
        </p:grpSpPr>
        <p:sp>
          <p:nvSpPr>
            <p:cNvPr id="179" name="Rounded Rectangle"/>
            <p:cNvSpPr/>
            <p:nvPr/>
          </p:nvSpPr>
          <p:spPr>
            <a:xfrm>
              <a:off x="0" y="0"/>
              <a:ext cx="5257800" cy="123444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0" name="Healthcare…"/>
            <p:cNvSpPr txBox="1"/>
            <p:nvPr/>
          </p:nvSpPr>
          <p:spPr>
            <a:xfrm>
              <a:off x="169098" y="372109"/>
              <a:ext cx="4956180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Healthcare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1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Assist with outreach planning and pattern identification.</a:t>
              </a:r>
            </a:p>
          </p:txBody>
        </p:sp>
      </p:grpSp>
      <p:grpSp>
        <p:nvGrpSpPr>
          <p:cNvPr id="184" name="Rounded Rectangle 10"/>
          <p:cNvGrpSpPr/>
          <p:nvPr/>
        </p:nvGrpSpPr>
        <p:grpSpPr>
          <a:xfrm>
            <a:off x="3474720" y="5795010"/>
            <a:ext cx="5212080" cy="662941"/>
            <a:chOff x="0" y="0"/>
            <a:chExt cx="5212079" cy="662940"/>
          </a:xfrm>
        </p:grpSpPr>
        <p:sp>
          <p:nvSpPr>
            <p:cNvPr id="182" name="Rounded Rectangle"/>
            <p:cNvSpPr/>
            <p:nvPr/>
          </p:nvSpPr>
          <p:spPr>
            <a:xfrm>
              <a:off x="0" y="11430"/>
              <a:ext cx="5212080" cy="594360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E67E2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3" name="Key insight…"/>
            <p:cNvSpPr txBox="1"/>
            <p:nvPr/>
          </p:nvSpPr>
          <p:spPr>
            <a:xfrm>
              <a:off x="137852" y="-1"/>
              <a:ext cx="4972952" cy="662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E67E2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Key insight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AI can accelerate analysis, but human review and responsible data use remain essential.</a:t>
              </a:r>
            </a:p>
          </p:txBody>
        </p:sp>
      </p:grpSp>
      <p:sp>
        <p:nvSpPr>
          <p:cNvPr id="185" name="TextBox 11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2"/>
          <p:cNvSpPr txBox="1"/>
          <p:nvPr/>
        </p:nvSpPr>
        <p:spPr>
          <a:xfrm>
            <a:off x="548639" y="228599"/>
            <a:ext cx="721714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Task 3 – Volunteer Opportunity Compilation</a:t>
            </a:r>
          </a:p>
        </p:txBody>
      </p:sp>
      <p:sp>
        <p:nvSpPr>
          <p:cNvPr id="189" name="TextBox 3"/>
          <p:cNvSpPr txBox="1"/>
          <p:nvPr/>
        </p:nvSpPr>
        <p:spPr>
          <a:xfrm>
            <a:off x="576071" y="749808"/>
            <a:ext cx="242624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Student-focused opportunity mapping</a:t>
            </a:r>
          </a:p>
        </p:txBody>
      </p:sp>
      <p:sp>
        <p:nvSpPr>
          <p:cNvPr id="190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91" name="Chart 5"/>
          <p:cNvGraphicFramePr/>
          <p:nvPr/>
        </p:nvGraphicFramePr>
        <p:xfrm>
          <a:off x="759460" y="1795314"/>
          <a:ext cx="4644960" cy="35671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2" name="TextBox 6"/>
          <p:cNvSpPr txBox="1"/>
          <p:nvPr/>
        </p:nvSpPr>
        <p:spPr>
          <a:xfrm>
            <a:off x="5760719" y="1508759"/>
            <a:ext cx="5394962" cy="208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Compiled at least 15 opportunities for students in India.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Fields included organization, opportunity type, eligibility, application link and deadline where available.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Examples included volunteering, internships, fellowships and student social initiatives.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Deadlines and eligibility should always be checked on the current official page.</a:t>
            </a:r>
          </a:p>
        </p:txBody>
      </p:sp>
      <p:sp>
        <p:nvSpPr>
          <p:cNvPr id="193" name="TextBox 7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"/>
          <p:cNvSpPr txBox="1"/>
          <p:nvPr/>
        </p:nvSpPr>
        <p:spPr>
          <a:xfrm>
            <a:off x="548639" y="228599"/>
            <a:ext cx="599170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Task 4 – AI Insights for NGO Growth</a:t>
            </a:r>
          </a:p>
        </p:txBody>
      </p:sp>
      <p:sp>
        <p:nvSpPr>
          <p:cNvPr id="197" name="TextBox 3"/>
          <p:cNvSpPr txBox="1"/>
          <p:nvPr/>
        </p:nvSpPr>
        <p:spPr>
          <a:xfrm>
            <a:off x="576071" y="749808"/>
            <a:ext cx="207624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Five practical recommendations</a:t>
            </a:r>
          </a:p>
        </p:txBody>
      </p:sp>
      <p:sp>
        <p:nvSpPr>
          <p:cNvPr id="198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1" name="Rounded Rectangle 5"/>
          <p:cNvGrpSpPr/>
          <p:nvPr/>
        </p:nvGrpSpPr>
        <p:grpSpPr>
          <a:xfrm>
            <a:off x="731519" y="1325880"/>
            <a:ext cx="10744201" cy="758952"/>
            <a:chOff x="0" y="0"/>
            <a:chExt cx="10744200" cy="758951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10744200" cy="758952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0" name="1. AI Chatbot…"/>
            <p:cNvSpPr txBox="1"/>
            <p:nvPr/>
          </p:nvSpPr>
          <p:spPr>
            <a:xfrm>
              <a:off x="145887" y="147065"/>
              <a:ext cx="10489002" cy="51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1. AI Chatbot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Handle common questions and guide website visitors.</a:t>
              </a:r>
            </a:p>
          </p:txBody>
        </p:sp>
      </p:grpSp>
      <p:grpSp>
        <p:nvGrpSpPr>
          <p:cNvPr id="204" name="Rounded Rectangle 6"/>
          <p:cNvGrpSpPr/>
          <p:nvPr/>
        </p:nvGrpSpPr>
        <p:grpSpPr>
          <a:xfrm>
            <a:off x="731519" y="2286000"/>
            <a:ext cx="10744201" cy="758952"/>
            <a:chOff x="0" y="0"/>
            <a:chExt cx="10744200" cy="758951"/>
          </a:xfrm>
        </p:grpSpPr>
        <p:sp>
          <p:nvSpPr>
            <p:cNvPr id="202" name="Rounded Rectangle"/>
            <p:cNvSpPr/>
            <p:nvPr/>
          </p:nvSpPr>
          <p:spPr>
            <a:xfrm>
              <a:off x="0" y="0"/>
              <a:ext cx="10744200" cy="758952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2E7D3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3" name="2. Volunteer Matching…"/>
            <p:cNvSpPr txBox="1"/>
            <p:nvPr/>
          </p:nvSpPr>
          <p:spPr>
            <a:xfrm>
              <a:off x="145887" y="147065"/>
              <a:ext cx="10489002" cy="51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2E7D3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2. Volunteer Matching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Match skills, interests and availability to opportunities.</a:t>
              </a:r>
            </a:p>
          </p:txBody>
        </p:sp>
      </p:grpSp>
      <p:grpSp>
        <p:nvGrpSpPr>
          <p:cNvPr id="207" name="Rounded Rectangle 7"/>
          <p:cNvGrpSpPr/>
          <p:nvPr/>
        </p:nvGrpSpPr>
        <p:grpSpPr>
          <a:xfrm>
            <a:off x="731519" y="3246120"/>
            <a:ext cx="10744201" cy="758953"/>
            <a:chOff x="0" y="0"/>
            <a:chExt cx="10744200" cy="758951"/>
          </a:xfrm>
        </p:grpSpPr>
        <p:sp>
          <p:nvSpPr>
            <p:cNvPr id="205" name="Rounded Rectangle"/>
            <p:cNvSpPr/>
            <p:nvPr/>
          </p:nvSpPr>
          <p:spPr>
            <a:xfrm>
              <a:off x="0" y="0"/>
              <a:ext cx="10744200" cy="758952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E67E2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6" name="3. Fundraising Analytics…"/>
            <p:cNvSpPr txBox="1"/>
            <p:nvPr/>
          </p:nvSpPr>
          <p:spPr>
            <a:xfrm>
              <a:off x="145887" y="147065"/>
              <a:ext cx="10489002" cy="51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E67E2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3. Fundraising Analytics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historical campaign patterns to improve planning.</a:t>
              </a:r>
            </a:p>
          </p:txBody>
        </p:sp>
      </p:grpSp>
      <p:grpSp>
        <p:nvGrpSpPr>
          <p:cNvPr id="210" name="Rounded Rectangle 8"/>
          <p:cNvGrpSpPr/>
          <p:nvPr/>
        </p:nvGrpSpPr>
        <p:grpSpPr>
          <a:xfrm>
            <a:off x="731519" y="4206240"/>
            <a:ext cx="10744201" cy="758953"/>
            <a:chOff x="0" y="0"/>
            <a:chExt cx="10744200" cy="758951"/>
          </a:xfrm>
        </p:grpSpPr>
        <p:sp>
          <p:nvSpPr>
            <p:cNvPr id="208" name="Rounded Rectangle"/>
            <p:cNvSpPr/>
            <p:nvPr/>
          </p:nvSpPr>
          <p:spPr>
            <a:xfrm>
              <a:off x="0" y="0"/>
              <a:ext cx="10744200" cy="758952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1F2A7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9" name="4. Social-Media Planning…"/>
            <p:cNvSpPr txBox="1"/>
            <p:nvPr/>
          </p:nvSpPr>
          <p:spPr>
            <a:xfrm>
              <a:off x="145887" y="147065"/>
              <a:ext cx="10489002" cy="51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F2A7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4. Social-Media Planning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Generate content ideas, drafts and performance insights.</a:t>
              </a:r>
            </a:p>
          </p:txBody>
        </p:sp>
      </p:grpSp>
      <p:grpSp>
        <p:nvGrpSpPr>
          <p:cNvPr id="213" name="Rounded Rectangle 9"/>
          <p:cNvGrpSpPr/>
          <p:nvPr/>
        </p:nvGrpSpPr>
        <p:grpSpPr>
          <a:xfrm>
            <a:off x="731519" y="5166359"/>
            <a:ext cx="10744201" cy="758953"/>
            <a:chOff x="0" y="0"/>
            <a:chExt cx="10744200" cy="758951"/>
          </a:xfrm>
        </p:grpSpPr>
        <p:sp>
          <p:nvSpPr>
            <p:cNvPr id="211" name="Rounded Rectangle"/>
            <p:cNvSpPr/>
            <p:nvPr/>
          </p:nvSpPr>
          <p:spPr>
            <a:xfrm>
              <a:off x="0" y="0"/>
              <a:ext cx="10744200" cy="758952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2" name="5. Impact Dashboard…"/>
            <p:cNvSpPr txBox="1"/>
            <p:nvPr/>
          </p:nvSpPr>
          <p:spPr>
            <a:xfrm>
              <a:off x="145887" y="147065"/>
              <a:ext cx="10489002" cy="51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5. Impact Dashboard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0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Track project, volunteer and donation indicators visually.</a:t>
              </a:r>
            </a:p>
          </p:txBody>
        </p:sp>
      </p:grpSp>
      <p:sp>
        <p:nvSpPr>
          <p:cNvPr id="214" name="TextBox 10"/>
          <p:cNvSpPr txBox="1"/>
          <p:nvPr/>
        </p:nvSpPr>
        <p:spPr>
          <a:xfrm>
            <a:off x="11308011" y="6428232"/>
            <a:ext cx="1677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2"/>
          <p:cNvSpPr txBox="1"/>
          <p:nvPr/>
        </p:nvSpPr>
        <p:spPr>
          <a:xfrm>
            <a:off x="548639" y="228599"/>
            <a:ext cx="223738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218" name="TextBox 3"/>
          <p:cNvSpPr txBox="1"/>
          <p:nvPr/>
        </p:nvSpPr>
        <p:spPr>
          <a:xfrm>
            <a:off x="576071" y="749808"/>
            <a:ext cx="28136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AI-assisted social-impact research workflow</a:t>
            </a:r>
          </a:p>
        </p:txBody>
      </p:sp>
      <p:sp>
        <p:nvSpPr>
          <p:cNvPr id="219" name="Rectangle 4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2" name="Oval 5"/>
          <p:cNvGrpSpPr/>
          <p:nvPr/>
        </p:nvGrpSpPr>
        <p:grpSpPr>
          <a:xfrm>
            <a:off x="502919" y="1874518"/>
            <a:ext cx="685801" cy="685801"/>
            <a:chOff x="0" y="0"/>
            <a:chExt cx="685800" cy="685800"/>
          </a:xfrm>
        </p:grpSpPr>
        <p:sp>
          <p:nvSpPr>
            <p:cNvPr id="220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1" name="1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23" name="TextBox 6"/>
          <p:cNvSpPr txBox="1"/>
          <p:nvPr/>
        </p:nvSpPr>
        <p:spPr>
          <a:xfrm>
            <a:off x="356722" y="2697479"/>
            <a:ext cx="97819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Understand Task</a:t>
            </a:r>
          </a:p>
        </p:txBody>
      </p:sp>
      <p:sp>
        <p:nvSpPr>
          <p:cNvPr id="224" name="Chevron 7"/>
          <p:cNvSpPr/>
          <p:nvPr/>
        </p:nvSpPr>
        <p:spPr>
          <a:xfrm>
            <a:off x="1252727" y="2057400"/>
            <a:ext cx="731521" cy="292609"/>
          </a:xfrm>
          <a:prstGeom prst="chevron">
            <a:avLst>
              <a:gd name="adj" fmla="val 50000"/>
            </a:avLst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7" name="Oval 8"/>
          <p:cNvGrpSpPr/>
          <p:nvPr/>
        </p:nvGrpSpPr>
        <p:grpSpPr>
          <a:xfrm>
            <a:off x="2167127" y="1874518"/>
            <a:ext cx="685801" cy="685801"/>
            <a:chOff x="0" y="0"/>
            <a:chExt cx="685800" cy="685800"/>
          </a:xfrm>
        </p:grpSpPr>
        <p:sp>
          <p:nvSpPr>
            <p:cNvPr id="225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6" name="2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28" name="TextBox 9"/>
          <p:cNvSpPr txBox="1"/>
          <p:nvPr/>
        </p:nvSpPr>
        <p:spPr>
          <a:xfrm>
            <a:off x="2081701" y="2697479"/>
            <a:ext cx="85665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Select Sources</a:t>
            </a:r>
          </a:p>
        </p:txBody>
      </p:sp>
      <p:sp>
        <p:nvSpPr>
          <p:cNvPr id="229" name="Chevron 10"/>
          <p:cNvSpPr/>
          <p:nvPr/>
        </p:nvSpPr>
        <p:spPr>
          <a:xfrm>
            <a:off x="2916935" y="2057400"/>
            <a:ext cx="731521" cy="292609"/>
          </a:xfrm>
          <a:prstGeom prst="chevron">
            <a:avLst>
              <a:gd name="adj" fmla="val 50000"/>
            </a:avLst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32" name="Oval 11"/>
          <p:cNvGrpSpPr/>
          <p:nvPr/>
        </p:nvGrpSpPr>
        <p:grpSpPr>
          <a:xfrm>
            <a:off x="3831335" y="1874518"/>
            <a:ext cx="685801" cy="685801"/>
            <a:chOff x="0" y="0"/>
            <a:chExt cx="685800" cy="685800"/>
          </a:xfrm>
        </p:grpSpPr>
        <p:sp>
          <p:nvSpPr>
            <p:cNvPr id="230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1" name="3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33" name="TextBox 12"/>
          <p:cNvSpPr txBox="1"/>
          <p:nvPr/>
        </p:nvSpPr>
        <p:spPr>
          <a:xfrm>
            <a:off x="3804789" y="2697479"/>
            <a:ext cx="73889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Collect Data</a:t>
            </a:r>
          </a:p>
        </p:txBody>
      </p:sp>
      <p:sp>
        <p:nvSpPr>
          <p:cNvPr id="234" name="Chevron 13"/>
          <p:cNvSpPr/>
          <p:nvPr/>
        </p:nvSpPr>
        <p:spPr>
          <a:xfrm>
            <a:off x="4581144" y="2057400"/>
            <a:ext cx="731520" cy="292609"/>
          </a:xfrm>
          <a:prstGeom prst="chevron">
            <a:avLst>
              <a:gd name="adj" fmla="val 50000"/>
            </a:avLst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37" name="Oval 14"/>
          <p:cNvGrpSpPr/>
          <p:nvPr/>
        </p:nvGrpSpPr>
        <p:grpSpPr>
          <a:xfrm>
            <a:off x="5495544" y="1874518"/>
            <a:ext cx="685801" cy="685801"/>
            <a:chOff x="0" y="0"/>
            <a:chExt cx="685800" cy="685800"/>
          </a:xfrm>
        </p:grpSpPr>
        <p:sp>
          <p:nvSpPr>
            <p:cNvPr id="235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6" name="4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238" name="TextBox 15"/>
          <p:cNvSpPr txBox="1"/>
          <p:nvPr/>
        </p:nvSpPr>
        <p:spPr>
          <a:xfrm>
            <a:off x="5417652" y="2697479"/>
            <a:ext cx="84158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Organize Data</a:t>
            </a:r>
          </a:p>
        </p:txBody>
      </p:sp>
      <p:sp>
        <p:nvSpPr>
          <p:cNvPr id="239" name="Chevron 16"/>
          <p:cNvSpPr/>
          <p:nvPr/>
        </p:nvSpPr>
        <p:spPr>
          <a:xfrm>
            <a:off x="6245352" y="2057400"/>
            <a:ext cx="731521" cy="292609"/>
          </a:xfrm>
          <a:prstGeom prst="chevron">
            <a:avLst>
              <a:gd name="adj" fmla="val 50000"/>
            </a:avLst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2" name="Oval 17"/>
          <p:cNvGrpSpPr/>
          <p:nvPr/>
        </p:nvGrpSpPr>
        <p:grpSpPr>
          <a:xfrm>
            <a:off x="7159752" y="1874518"/>
            <a:ext cx="685801" cy="685801"/>
            <a:chOff x="0" y="0"/>
            <a:chExt cx="685800" cy="685800"/>
          </a:xfrm>
        </p:grpSpPr>
        <p:sp>
          <p:nvSpPr>
            <p:cNvPr id="240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1" name="5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43" name="TextBox 18"/>
          <p:cNvSpPr txBox="1"/>
          <p:nvPr/>
        </p:nvSpPr>
        <p:spPr>
          <a:xfrm>
            <a:off x="6929311" y="2697479"/>
            <a:ext cx="11466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AI-Assisted Analysis</a:t>
            </a:r>
          </a:p>
        </p:txBody>
      </p:sp>
      <p:sp>
        <p:nvSpPr>
          <p:cNvPr id="244" name="Chevron 19"/>
          <p:cNvSpPr/>
          <p:nvPr/>
        </p:nvSpPr>
        <p:spPr>
          <a:xfrm>
            <a:off x="7909559" y="2057400"/>
            <a:ext cx="731521" cy="292609"/>
          </a:xfrm>
          <a:prstGeom prst="chevron">
            <a:avLst>
              <a:gd name="adj" fmla="val 50000"/>
            </a:avLst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7" name="Oval 20"/>
          <p:cNvGrpSpPr/>
          <p:nvPr/>
        </p:nvGrpSpPr>
        <p:grpSpPr>
          <a:xfrm>
            <a:off x="8823959" y="1874518"/>
            <a:ext cx="685801" cy="685801"/>
            <a:chOff x="0" y="0"/>
            <a:chExt cx="685800" cy="685800"/>
          </a:xfrm>
        </p:grpSpPr>
        <p:sp>
          <p:nvSpPr>
            <p:cNvPr id="245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6" name="6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248" name="TextBox 21"/>
          <p:cNvSpPr txBox="1"/>
          <p:nvPr/>
        </p:nvSpPr>
        <p:spPr>
          <a:xfrm>
            <a:off x="8718379" y="2697479"/>
            <a:ext cx="896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Verify &amp; Refine</a:t>
            </a:r>
          </a:p>
        </p:txBody>
      </p:sp>
      <p:sp>
        <p:nvSpPr>
          <p:cNvPr id="249" name="Chevron 22"/>
          <p:cNvSpPr/>
          <p:nvPr/>
        </p:nvSpPr>
        <p:spPr>
          <a:xfrm>
            <a:off x="9573768" y="2057400"/>
            <a:ext cx="731521" cy="292609"/>
          </a:xfrm>
          <a:prstGeom prst="chevron">
            <a:avLst>
              <a:gd name="adj" fmla="val 50000"/>
            </a:avLst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52" name="Oval 23"/>
          <p:cNvGrpSpPr/>
          <p:nvPr/>
        </p:nvGrpSpPr>
        <p:grpSpPr>
          <a:xfrm>
            <a:off x="10488168" y="1874518"/>
            <a:ext cx="685801" cy="685801"/>
            <a:chOff x="0" y="0"/>
            <a:chExt cx="685800" cy="685800"/>
          </a:xfrm>
        </p:grpSpPr>
        <p:sp>
          <p:nvSpPr>
            <p:cNvPr id="250" name="Circle"/>
            <p:cNvSpPr/>
            <p:nvPr/>
          </p:nvSpPr>
          <p:spPr>
            <a:xfrm>
              <a:off x="0" y="0"/>
              <a:ext cx="685800" cy="685800"/>
            </a:xfrm>
            <a:prstGeom prst="ellipse">
              <a:avLst/>
            </a:prstGeom>
            <a:solidFill>
              <a:srgbClr val="1F2A7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1" name="7"/>
            <p:cNvSpPr txBox="1"/>
            <p:nvPr/>
          </p:nvSpPr>
          <p:spPr>
            <a:xfrm>
              <a:off x="146152" y="176356"/>
              <a:ext cx="39349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253" name="TextBox 24"/>
          <p:cNvSpPr txBox="1"/>
          <p:nvPr/>
        </p:nvSpPr>
        <p:spPr>
          <a:xfrm>
            <a:off x="10231186" y="2697479"/>
            <a:ext cx="119976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232323"/>
                </a:solidFill>
              </a:defRPr>
            </a:lvl1pPr>
          </a:lstStyle>
          <a:p>
            <a:pPr/>
            <a:r>
              <a:t>Document &amp; Present</a:t>
            </a:r>
          </a:p>
        </p:txBody>
      </p:sp>
      <p:sp>
        <p:nvSpPr>
          <p:cNvPr id="254" name="TextBox 25"/>
          <p:cNvSpPr txBox="1"/>
          <p:nvPr/>
        </p:nvSpPr>
        <p:spPr>
          <a:xfrm>
            <a:off x="960119" y="3977638"/>
            <a:ext cx="10241282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AI supported summarization, brainstorming and recommendation drafting.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Final outputs were reviewed and refined rather than copied directly from AI.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Source links were retained for traceability and verification.</a:t>
            </a:r>
          </a:p>
        </p:txBody>
      </p:sp>
      <p:sp>
        <p:nvSpPr>
          <p:cNvPr id="255" name="TextBox 26"/>
          <p:cNvSpPr txBox="1"/>
          <p:nvPr/>
        </p:nvSpPr>
        <p:spPr>
          <a:xfrm>
            <a:off x="11244443" y="6428232"/>
            <a:ext cx="231277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2"/>
          <p:cNvSpPr txBox="1"/>
          <p:nvPr/>
        </p:nvSpPr>
        <p:spPr>
          <a:xfrm>
            <a:off x="548639" y="228599"/>
            <a:ext cx="5585184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Tools Used &amp; Learning Outcomes</a:t>
            </a:r>
          </a:p>
        </p:txBody>
      </p:sp>
      <p:sp>
        <p:nvSpPr>
          <p:cNvPr id="259" name="Rectangle 3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62" name="Rounded Rectangle 4"/>
          <p:cNvGrpSpPr/>
          <p:nvPr/>
        </p:nvGrpSpPr>
        <p:grpSpPr>
          <a:xfrm>
            <a:off x="640080" y="1371600"/>
            <a:ext cx="5257801" cy="4206241"/>
            <a:chOff x="0" y="0"/>
            <a:chExt cx="5257800" cy="4206240"/>
          </a:xfrm>
        </p:grpSpPr>
        <p:sp>
          <p:nvSpPr>
            <p:cNvPr id="260" name="Rounded Rectangle"/>
            <p:cNvSpPr/>
            <p:nvPr/>
          </p:nvSpPr>
          <p:spPr>
            <a:xfrm>
              <a:off x="0" y="0"/>
              <a:ext cx="5257800" cy="4206241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315A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1" name="Tools / Platforms…"/>
            <p:cNvSpPr txBox="1"/>
            <p:nvPr/>
          </p:nvSpPr>
          <p:spPr>
            <a:xfrm>
              <a:off x="314171" y="1394459"/>
              <a:ext cx="4666034" cy="1463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700">
                  <a:solidFill>
                    <a:srgbClr val="315A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Tools / Platforms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ChatGPT / AI assistant – research and ideation</a:t>
              </a:r>
              <a:br/>
              <a:r>
                <a:t>• Web &amp; official websites – source collection</a:t>
              </a:r>
              <a:br/>
              <a:r>
                <a:t>• Word – report preparation</a:t>
              </a:r>
              <a:br/>
              <a:r>
                <a:t>• Excel / Google Sheets – structured data</a:t>
              </a:r>
              <a:br/>
              <a:r>
                <a:t>• Google Drive – storage and submission</a:t>
              </a:r>
              <a:br/>
              <a:r>
                <a:t>• LinkedIn – professional sharing</a:t>
              </a:r>
            </a:p>
          </p:txBody>
        </p:sp>
      </p:grpSp>
      <p:grpSp>
        <p:nvGrpSpPr>
          <p:cNvPr id="265" name="Rounded Rectangle 5"/>
          <p:cNvGrpSpPr/>
          <p:nvPr/>
        </p:nvGrpSpPr>
        <p:grpSpPr>
          <a:xfrm>
            <a:off x="6263640" y="1371600"/>
            <a:ext cx="5257801" cy="4206241"/>
            <a:chOff x="0" y="0"/>
            <a:chExt cx="5257800" cy="4206240"/>
          </a:xfrm>
        </p:grpSpPr>
        <p:sp>
          <p:nvSpPr>
            <p:cNvPr id="263" name="Rounded Rectangle"/>
            <p:cNvSpPr/>
            <p:nvPr/>
          </p:nvSpPr>
          <p:spPr>
            <a:xfrm>
              <a:off x="0" y="0"/>
              <a:ext cx="5257800" cy="4206241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2E7D3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4" name="Skills Developed…"/>
            <p:cNvSpPr txBox="1"/>
            <p:nvPr/>
          </p:nvSpPr>
          <p:spPr>
            <a:xfrm>
              <a:off x="314171" y="1305560"/>
              <a:ext cx="4666034" cy="164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700">
                  <a:solidFill>
                    <a:srgbClr val="2E7D3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Skills Developed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2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Research and information retrieval</a:t>
              </a:r>
              <a:br/>
              <a:r>
                <a:t>• Data collection and organization</a:t>
              </a:r>
              <a:br/>
              <a:r>
                <a:t>• AI-assisted analysis</a:t>
              </a:r>
              <a:br/>
              <a:r>
                <a:t>• Summarization and report writing</a:t>
              </a:r>
              <a:br/>
              <a:r>
                <a:t>• Critical review of AI outputs</a:t>
              </a:r>
              <a:br/>
              <a:r>
                <a:t>• Professional documentation</a:t>
              </a:r>
              <a:br/>
              <a:r>
                <a:t>• Presentation and communication</a:t>
              </a:r>
            </a:p>
          </p:txBody>
        </p:sp>
      </p:grpSp>
      <p:sp>
        <p:nvSpPr>
          <p:cNvPr id="266" name="TextBox 6"/>
          <p:cNvSpPr txBox="1"/>
          <p:nvPr/>
        </p:nvSpPr>
        <p:spPr>
          <a:xfrm>
            <a:off x="11252870" y="6428232"/>
            <a:ext cx="22285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2"/>
          <p:cNvSpPr txBox="1"/>
          <p:nvPr/>
        </p:nvSpPr>
        <p:spPr>
          <a:xfrm>
            <a:off x="548639" y="228599"/>
            <a:ext cx="615076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Challenges &amp; How I Addressed Them</a:t>
            </a:r>
          </a:p>
        </p:txBody>
      </p:sp>
      <p:sp>
        <p:nvSpPr>
          <p:cNvPr id="270" name="Rectangle 3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4"/>
          <p:cNvSpPr txBox="1"/>
          <p:nvPr/>
        </p:nvSpPr>
        <p:spPr>
          <a:xfrm>
            <a:off x="868679" y="1417319"/>
            <a:ext cx="6400802" cy="242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Scattered information → used fixed fields and structured tables.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Changing deadlines → recommended checking current official opportunity pages.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AI may generate errors → cross-checked important factual claims.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Broad social topics → used objectives and categories to structure analysis.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Limited production exposure → focused on realistic use cases without claiming deployment.</a:t>
            </a:r>
          </a:p>
        </p:txBody>
      </p:sp>
      <p:grpSp>
        <p:nvGrpSpPr>
          <p:cNvPr id="274" name="Rounded Rectangle 5"/>
          <p:cNvGrpSpPr/>
          <p:nvPr/>
        </p:nvGrpSpPr>
        <p:grpSpPr>
          <a:xfrm>
            <a:off x="7498078" y="1508760"/>
            <a:ext cx="3657601" cy="3108961"/>
            <a:chOff x="0" y="0"/>
            <a:chExt cx="3657600" cy="3108960"/>
          </a:xfrm>
        </p:grpSpPr>
        <p:sp>
          <p:nvSpPr>
            <p:cNvPr id="272" name="Rounded Rectangle"/>
            <p:cNvSpPr/>
            <p:nvPr/>
          </p:nvSpPr>
          <p:spPr>
            <a:xfrm>
              <a:off x="0" y="0"/>
              <a:ext cx="3657600" cy="3108961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E67E2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4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3" name="Key Learning…"/>
            <p:cNvSpPr txBox="1"/>
            <p:nvPr/>
          </p:nvSpPr>
          <p:spPr>
            <a:xfrm>
              <a:off x="260605" y="934720"/>
              <a:ext cx="3172966" cy="1285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>
                  <a:solidFill>
                    <a:srgbClr val="E67E2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Key Learning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4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Good analytics depends not only on AI, but also on clear questions, organized data, verification and human judgement.</a:t>
              </a:r>
            </a:p>
          </p:txBody>
        </p:sp>
      </p:grpSp>
      <p:sp>
        <p:nvSpPr>
          <p:cNvPr id="275" name="TextBox 6"/>
          <p:cNvSpPr txBox="1"/>
          <p:nvPr/>
        </p:nvSpPr>
        <p:spPr>
          <a:xfrm>
            <a:off x="11244443" y="6428232"/>
            <a:ext cx="231277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78" name="ASHISH INTERNSHIP CERTIFICATE.png" descr="ASHISH INTERNSHIP CERTIFICA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6138617" cy="4343555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Box 2"/>
          <p:cNvSpPr txBox="1"/>
          <p:nvPr/>
        </p:nvSpPr>
        <p:spPr>
          <a:xfrm>
            <a:off x="548639" y="228599"/>
            <a:ext cx="551486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Internship Completion Certificate</a:t>
            </a:r>
          </a:p>
        </p:txBody>
      </p:sp>
      <p:sp>
        <p:nvSpPr>
          <p:cNvPr id="280" name="Rectangle 3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5"/>
          <p:cNvSpPr txBox="1"/>
          <p:nvPr/>
        </p:nvSpPr>
        <p:spPr>
          <a:xfrm>
            <a:off x="11244443" y="6428232"/>
            <a:ext cx="231277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2"/>
          <p:cNvSpPr txBox="1"/>
          <p:nvPr/>
        </p:nvSpPr>
        <p:spPr>
          <a:xfrm>
            <a:off x="548639" y="228599"/>
            <a:ext cx="1971004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F2A7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85" name="Rectangle 3"/>
          <p:cNvSpPr/>
          <p:nvPr/>
        </p:nvSpPr>
        <p:spPr>
          <a:xfrm>
            <a:off x="502919" y="1078991"/>
            <a:ext cx="11155682" cy="32005"/>
          </a:xfrm>
          <a:prstGeom prst="rect">
            <a:avLst/>
          </a:prstGeom>
          <a:solidFill>
            <a:srgbClr val="315AA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4"/>
          <p:cNvSpPr txBox="1"/>
          <p:nvPr/>
        </p:nvSpPr>
        <p:spPr>
          <a:xfrm>
            <a:off x="1005839" y="1508759"/>
            <a:ext cx="10058402" cy="2352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Completed an AI Data Analytics Internship at InAmigos Foundation.</a:t>
            </a:r>
          </a:p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Researched 10 NGOs and organized social-impact information.</a:t>
            </a:r>
          </a:p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Prepared an AI-powered analysis of AI applications in the NGO sector.</a:t>
            </a:r>
          </a:p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Compiled 15+ student-oriented volunteer, internship and fellowship opportunities.</a:t>
            </a:r>
          </a:p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Generated five practical AI strategies for NGO growth.</a:t>
            </a:r>
          </a:p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Developed stronger research, data organization, AI literacy and communication skills.</a:t>
            </a:r>
          </a:p>
        </p:txBody>
      </p:sp>
      <p:grpSp>
        <p:nvGrpSpPr>
          <p:cNvPr id="289" name="Rounded Rectangle 5"/>
          <p:cNvGrpSpPr/>
          <p:nvPr/>
        </p:nvGrpSpPr>
        <p:grpSpPr>
          <a:xfrm>
            <a:off x="2880360" y="5166359"/>
            <a:ext cx="6400801" cy="822961"/>
            <a:chOff x="0" y="0"/>
            <a:chExt cx="6400800" cy="822960"/>
          </a:xfrm>
        </p:grpSpPr>
        <p:sp>
          <p:nvSpPr>
            <p:cNvPr id="287" name="Rounded Rectangle"/>
            <p:cNvSpPr/>
            <p:nvPr/>
          </p:nvSpPr>
          <p:spPr>
            <a:xfrm>
              <a:off x="0" y="0"/>
              <a:ext cx="6400800" cy="822961"/>
            </a:xfrm>
            <a:prstGeom prst="roundRect">
              <a:avLst>
                <a:gd name="adj" fmla="val 16667"/>
              </a:avLst>
            </a:prstGeom>
            <a:solidFill>
              <a:srgbClr val="EFF4FC"/>
            </a:solidFill>
            <a:ln w="16510" cap="flat">
              <a:solidFill>
                <a:srgbClr val="1F2A7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 sz="14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8" name="Thank You…"/>
            <p:cNvSpPr txBox="1"/>
            <p:nvPr/>
          </p:nvSpPr>
          <p:spPr>
            <a:xfrm>
              <a:off x="149012" y="134619"/>
              <a:ext cx="6139352" cy="599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1F2A7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Thank You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4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Questions &amp; Answers</a:t>
              </a:r>
            </a:p>
          </p:txBody>
        </p:sp>
      </p:grpSp>
      <p:sp>
        <p:nvSpPr>
          <p:cNvPr id="290" name="TextBox 6"/>
          <p:cNvSpPr txBox="1"/>
          <p:nvPr/>
        </p:nvSpPr>
        <p:spPr>
          <a:xfrm>
            <a:off x="11244443" y="6428232"/>
            <a:ext cx="231277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